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42799000" cx="30276800"/>
  <p:notesSz cx="6858000" cy="9144000"/>
  <p:embeddedFontLst>
    <p:embeddedFont>
      <p:font typeface="Roboto"/>
      <p:regular r:id="rId7"/>
      <p:bold r:id="rId8"/>
      <p:italic r:id="rId9"/>
      <p:boldItalic r:id="rId10"/>
    </p:embeddedFont>
    <p:embeddedFont>
      <p:font typeface="Montserrat"/>
      <p:regular r:id="rId11"/>
      <p:bold r:id="rId12"/>
      <p:italic r:id="rId13"/>
      <p:boldItalic r:id="rId14"/>
    </p:embeddedFont>
    <p:embeddedFont>
      <p:font typeface="Montserrat Medium"/>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regular.fntdata"/><Relationship Id="rId10" Type="http://schemas.openxmlformats.org/officeDocument/2006/relationships/font" Target="fonts/Roboto-boldItalic.fntdata"/><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5" Type="http://schemas.openxmlformats.org/officeDocument/2006/relationships/font" Target="fonts/MontserratMedium-regular.fntdata"/><Relationship Id="rId14" Type="http://schemas.openxmlformats.org/officeDocument/2006/relationships/font" Target="fonts/Montserrat-boldItalic.fntdata"/><Relationship Id="rId17" Type="http://schemas.openxmlformats.org/officeDocument/2006/relationships/font" Target="fonts/MontserratMedium-italic.fntdata"/><Relationship Id="rId16" Type="http://schemas.openxmlformats.org/officeDocument/2006/relationships/font" Target="fonts/MontserratMedium-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MontserratMedium-boldItalic.fntdata"/><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 name="Shape 83"/>
        <p:cNvGrpSpPr/>
        <p:nvPr/>
      </p:nvGrpSpPr>
      <p:grpSpPr>
        <a:xfrm>
          <a:off x="0" y="0"/>
          <a:ext cx="0" cy="0"/>
          <a:chOff x="0" y="0"/>
          <a:chExt cx="0" cy="0"/>
        </a:xfrm>
      </p:grpSpPr>
      <p:sp>
        <p:nvSpPr>
          <p:cNvPr id="84" name="Google Shape;84;p13"/>
          <p:cNvSpPr txBox="1"/>
          <p:nvPr/>
        </p:nvSpPr>
        <p:spPr>
          <a:xfrm>
            <a:off x="7803725" y="1101725"/>
            <a:ext cx="22193700" cy="2118000"/>
          </a:xfrm>
          <a:prstGeom prst="rect">
            <a:avLst/>
          </a:prstGeom>
          <a:gradFill>
            <a:gsLst>
              <a:gs pos="0">
                <a:srgbClr val="FDECDB"/>
              </a:gs>
              <a:gs pos="100000">
                <a:srgbClr val="F0AA63"/>
              </a:gs>
            </a:gsLst>
            <a:lin ang="5400012" scaled="0"/>
          </a:grad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Clr>
                <a:schemeClr val="dk1"/>
              </a:buClr>
              <a:buSzPts val="1100"/>
              <a:buFont typeface="Arial"/>
              <a:buNone/>
            </a:pPr>
            <a:r>
              <a:rPr b="1" lang="en-US" sz="6400">
                <a:solidFill>
                  <a:schemeClr val="dk1"/>
                </a:solidFill>
                <a:latin typeface="Roboto"/>
                <a:ea typeface="Roboto"/>
                <a:cs typeface="Roboto"/>
                <a:sym typeface="Roboto"/>
              </a:rPr>
              <a:t>СТВОРЕННЯ ОНЛАЙН-ПЛАТФОРМИ ДЛЯ КОМУНІКАЦІЇ МІЖ ЗАМОВНИКАМИ ТА ФАХІВЦЯМИ</a:t>
            </a:r>
            <a:endParaRPr b="1" sz="9200">
              <a:latin typeface="Roboto"/>
              <a:ea typeface="Roboto"/>
              <a:cs typeface="Roboto"/>
              <a:sym typeface="Roboto"/>
            </a:endParaRPr>
          </a:p>
        </p:txBody>
      </p:sp>
      <p:sp>
        <p:nvSpPr>
          <p:cNvPr id="85" name="Google Shape;85;p13"/>
          <p:cNvSpPr txBox="1"/>
          <p:nvPr/>
        </p:nvSpPr>
        <p:spPr>
          <a:xfrm>
            <a:off x="7803725" y="3429000"/>
            <a:ext cx="22193700" cy="2407500"/>
          </a:xfrm>
          <a:prstGeom prst="rect">
            <a:avLst/>
          </a:prstGeom>
          <a:gradFill>
            <a:gsLst>
              <a:gs pos="0">
                <a:srgbClr val="FDECDB"/>
              </a:gs>
              <a:gs pos="100000">
                <a:srgbClr val="F0AA63"/>
              </a:gs>
            </a:gsLst>
            <a:lin ang="5400012" scaled="0"/>
          </a:grad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lang="en-US" sz="4600">
                <a:latin typeface="Roboto"/>
                <a:ea typeface="Roboto"/>
                <a:cs typeface="Roboto"/>
                <a:sym typeface="Roboto"/>
              </a:rPr>
              <a:t>Чижевський Володимир Володимирович</a:t>
            </a:r>
            <a:endParaRPr b="1" i="0" sz="1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5000"/>
              <a:buFont typeface="Arial"/>
              <a:buNone/>
            </a:pPr>
            <a:r>
              <a:rPr b="0" i="0" lang="en-US" sz="4600" u="none" cap="none" strike="noStrike">
                <a:solidFill>
                  <a:srgbClr val="000000"/>
                </a:solidFill>
                <a:latin typeface="Roboto"/>
                <a:ea typeface="Roboto"/>
                <a:cs typeface="Roboto"/>
                <a:sym typeface="Roboto"/>
              </a:rPr>
              <a:t>Учень 10-</a:t>
            </a:r>
            <a:r>
              <a:rPr lang="en-US" sz="4600">
                <a:latin typeface="Roboto"/>
                <a:ea typeface="Roboto"/>
                <a:cs typeface="Roboto"/>
                <a:sym typeface="Roboto"/>
              </a:rPr>
              <a:t>Г </a:t>
            </a:r>
            <a:r>
              <a:rPr b="0" i="0" lang="en-US" sz="4600" u="none" cap="none" strike="noStrike">
                <a:solidFill>
                  <a:srgbClr val="000000"/>
                </a:solidFill>
                <a:latin typeface="Roboto"/>
                <a:ea typeface="Roboto"/>
                <a:cs typeface="Roboto"/>
                <a:sym typeface="Roboto"/>
              </a:rPr>
              <a:t> груп</a:t>
            </a:r>
            <a:r>
              <a:rPr lang="en-US" sz="4600">
                <a:latin typeface="Roboto"/>
                <a:ea typeface="Roboto"/>
                <a:cs typeface="Roboto"/>
                <a:sym typeface="Roboto"/>
              </a:rPr>
              <a:t>и </a:t>
            </a:r>
            <a:r>
              <a:rPr b="0" i="0" lang="en-US" sz="4600" u="none" cap="none" strike="noStrike">
                <a:solidFill>
                  <a:srgbClr val="000000"/>
                </a:solidFill>
                <a:latin typeface="Roboto"/>
                <a:ea typeface="Roboto"/>
                <a:cs typeface="Roboto"/>
                <a:sym typeface="Roboto"/>
              </a:rPr>
              <a:t>Науковий ліцей Житомирської політехніки, </a:t>
            </a:r>
            <a:br>
              <a:rPr b="0" i="0" lang="en-US" sz="4600" u="none" cap="none" strike="noStrike">
                <a:solidFill>
                  <a:srgbClr val="000000"/>
                </a:solidFill>
                <a:latin typeface="Roboto"/>
                <a:ea typeface="Roboto"/>
                <a:cs typeface="Roboto"/>
                <a:sym typeface="Roboto"/>
              </a:rPr>
            </a:br>
            <a:r>
              <a:rPr b="0" i="0" lang="en-US" sz="4600" u="none" cap="none" strike="noStrike">
                <a:solidFill>
                  <a:srgbClr val="000000"/>
                </a:solidFill>
                <a:latin typeface="Roboto"/>
                <a:ea typeface="Roboto"/>
                <a:cs typeface="Roboto"/>
                <a:sym typeface="Roboto"/>
              </a:rPr>
              <a:t>вихова</a:t>
            </a:r>
            <a:r>
              <a:rPr lang="en-US" sz="4600">
                <a:latin typeface="Roboto"/>
                <a:ea typeface="Roboto"/>
                <a:cs typeface="Roboto"/>
                <a:sym typeface="Roboto"/>
              </a:rPr>
              <a:t>нець гуртка ЖМЦНТТУМ</a:t>
            </a:r>
            <a:endParaRPr b="0" i="0" sz="1000" u="none" cap="none" strike="noStrike">
              <a:solidFill>
                <a:srgbClr val="000000"/>
              </a:solidFill>
              <a:latin typeface="Roboto"/>
              <a:ea typeface="Roboto"/>
              <a:cs typeface="Roboto"/>
              <a:sym typeface="Roboto"/>
            </a:endParaRPr>
          </a:p>
        </p:txBody>
      </p:sp>
      <p:sp>
        <p:nvSpPr>
          <p:cNvPr id="86" name="Google Shape;86;p13"/>
          <p:cNvSpPr txBox="1"/>
          <p:nvPr/>
        </p:nvSpPr>
        <p:spPr>
          <a:xfrm>
            <a:off x="7778000" y="6098000"/>
            <a:ext cx="22193700" cy="4165200"/>
          </a:xfrm>
          <a:prstGeom prst="rect">
            <a:avLst/>
          </a:prstGeom>
          <a:gradFill>
            <a:gsLst>
              <a:gs pos="0">
                <a:srgbClr val="FDECDB"/>
              </a:gs>
              <a:gs pos="100000">
                <a:srgbClr val="F0AA63"/>
              </a:gs>
            </a:gsLst>
            <a:lin ang="5400012" scaled="0"/>
          </a:grad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lang="en-US" sz="4100">
                <a:solidFill>
                  <a:schemeClr val="dk1"/>
                </a:solidFill>
                <a:latin typeface="Roboto"/>
                <a:ea typeface="Roboto"/>
                <a:cs typeface="Roboto"/>
                <a:sym typeface="Roboto"/>
              </a:rPr>
              <a:t>Наукові</a:t>
            </a:r>
            <a:r>
              <a:rPr b="1" i="0" lang="en-US" sz="4100" u="none" cap="none" strike="noStrike">
                <a:solidFill>
                  <a:schemeClr val="dk1"/>
                </a:solidFill>
                <a:latin typeface="Roboto"/>
                <a:ea typeface="Roboto"/>
                <a:cs typeface="Roboto"/>
                <a:sym typeface="Roboto"/>
              </a:rPr>
              <a:t> керівники:</a:t>
            </a:r>
            <a:r>
              <a:rPr b="0" i="0" lang="en-US" sz="4100" u="none" cap="none" strike="noStrike">
                <a:solidFill>
                  <a:schemeClr val="dk1"/>
                </a:solidFill>
                <a:latin typeface="Roboto"/>
                <a:ea typeface="Roboto"/>
                <a:cs typeface="Roboto"/>
                <a:sym typeface="Roboto"/>
              </a:rPr>
              <a:t> </a:t>
            </a:r>
            <a:br>
              <a:rPr b="0" i="0" lang="en-US" sz="4100" u="none" cap="none" strike="noStrike">
                <a:solidFill>
                  <a:schemeClr val="dk1"/>
                </a:solidFill>
                <a:latin typeface="Roboto"/>
                <a:ea typeface="Roboto"/>
                <a:cs typeface="Roboto"/>
                <a:sym typeface="Roboto"/>
              </a:rPr>
            </a:br>
            <a:r>
              <a:rPr b="1" i="1" lang="en-US" sz="4100" u="none" cap="none" strike="noStrike">
                <a:solidFill>
                  <a:schemeClr val="dk1"/>
                </a:solidFill>
                <a:latin typeface="Roboto"/>
                <a:ea typeface="Roboto"/>
                <a:cs typeface="Roboto"/>
                <a:sym typeface="Roboto"/>
              </a:rPr>
              <a:t>Шатківський Віталій Миколайович,</a:t>
            </a:r>
            <a:r>
              <a:rPr b="0" i="0" lang="en-US" sz="4100" u="none" cap="none" strike="noStrike">
                <a:solidFill>
                  <a:schemeClr val="dk1"/>
                </a:solidFill>
                <a:latin typeface="Roboto"/>
                <a:ea typeface="Roboto"/>
                <a:cs typeface="Roboto"/>
                <a:sym typeface="Roboto"/>
              </a:rPr>
              <a:t> вчитель інформатики Наукового ліцею Житомирської політехніки, керівник гуртка «Програмування та дизайн» ЖМЦНТТУМ.</a:t>
            </a:r>
            <a:endParaRPr b="0" i="0" sz="4100" u="none" cap="none" strike="noStrike">
              <a:solidFill>
                <a:schemeClr val="dk1"/>
              </a:solidFill>
              <a:latin typeface="Roboto"/>
              <a:ea typeface="Roboto"/>
              <a:cs typeface="Roboto"/>
              <a:sym typeface="Roboto"/>
            </a:endParaRPr>
          </a:p>
          <a:p>
            <a:pPr indent="0" lvl="0" marL="0" marR="0" rtl="0" algn="l">
              <a:lnSpc>
                <a:spcPct val="140000"/>
              </a:lnSpc>
              <a:spcBef>
                <a:spcPts val="0"/>
              </a:spcBef>
              <a:spcAft>
                <a:spcPts val="0"/>
              </a:spcAft>
              <a:buClr>
                <a:srgbClr val="000000"/>
              </a:buClr>
              <a:buSzPts val="5000"/>
              <a:buFont typeface="Arial"/>
              <a:buNone/>
            </a:pPr>
            <a:r>
              <a:rPr b="1" i="1" lang="en-US" sz="4100">
                <a:solidFill>
                  <a:schemeClr val="dk1"/>
                </a:solidFill>
                <a:latin typeface="Roboto"/>
                <a:ea typeface="Roboto"/>
                <a:cs typeface="Roboto"/>
                <a:sym typeface="Roboto"/>
              </a:rPr>
              <a:t>Фуріхата Денис Вікторович,</a:t>
            </a:r>
            <a:r>
              <a:rPr lang="en-US" sz="4100">
                <a:solidFill>
                  <a:schemeClr val="dk1"/>
                </a:solidFill>
                <a:latin typeface="Roboto"/>
                <a:ea typeface="Roboto"/>
                <a:cs typeface="Roboto"/>
                <a:sym typeface="Roboto"/>
              </a:rPr>
              <a:t> старший викладач кафедри комп’ютерних наук Державного університету Житомирська Політехніка</a:t>
            </a:r>
            <a:endParaRPr sz="4100">
              <a:solidFill>
                <a:schemeClr val="dk1"/>
              </a:solidFill>
              <a:latin typeface="Roboto"/>
              <a:ea typeface="Roboto"/>
              <a:cs typeface="Roboto"/>
              <a:sym typeface="Roboto"/>
            </a:endParaRPr>
          </a:p>
        </p:txBody>
      </p:sp>
      <p:sp>
        <p:nvSpPr>
          <p:cNvPr id="87" name="Google Shape;87;p13"/>
          <p:cNvSpPr txBox="1"/>
          <p:nvPr/>
        </p:nvSpPr>
        <p:spPr>
          <a:xfrm>
            <a:off x="722819" y="14856767"/>
            <a:ext cx="43407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Мета проєкту:</a:t>
            </a:r>
            <a:endParaRPr b="0" i="0" sz="1400" u="none" cap="none" strike="noStrike">
              <a:solidFill>
                <a:schemeClr val="lt1"/>
              </a:solidFill>
              <a:latin typeface="Roboto"/>
              <a:ea typeface="Roboto"/>
              <a:cs typeface="Roboto"/>
              <a:sym typeface="Roboto"/>
            </a:endParaRPr>
          </a:p>
        </p:txBody>
      </p:sp>
      <p:sp>
        <p:nvSpPr>
          <p:cNvPr id="88" name="Google Shape;88;p13"/>
          <p:cNvSpPr txBox="1"/>
          <p:nvPr/>
        </p:nvSpPr>
        <p:spPr>
          <a:xfrm>
            <a:off x="532550" y="15824363"/>
            <a:ext cx="16784400" cy="2416500"/>
          </a:xfrm>
          <a:prstGeom prst="rect">
            <a:avLst/>
          </a:prstGeom>
          <a:solidFill>
            <a:srgbClr val="F9CB9C"/>
          </a:solidFill>
          <a:ln>
            <a:noFill/>
          </a:ln>
        </p:spPr>
        <p:txBody>
          <a:bodyPr anchorCtr="0" anchor="t" bIns="0" lIns="0" spcFirstLastPara="1" rIns="0" wrap="square" tIns="0">
            <a:spAutoFit/>
          </a:bodyPr>
          <a:lstStyle/>
          <a:p>
            <a:pPr indent="0" lvl="0" marL="285750" marR="245341" rtl="0" algn="just">
              <a:lnSpc>
                <a:spcPct val="100000"/>
              </a:lnSpc>
              <a:spcBef>
                <a:spcPts val="0"/>
              </a:spcBef>
              <a:spcAft>
                <a:spcPts val="0"/>
              </a:spcAft>
              <a:buClr>
                <a:srgbClr val="000000"/>
              </a:buClr>
              <a:buSzPts val="4299"/>
              <a:buFont typeface="Arial"/>
              <a:buNone/>
            </a:pPr>
            <a:r>
              <a:rPr lang="en-US" sz="3900">
                <a:latin typeface="Times New Roman"/>
                <a:ea typeface="Times New Roman"/>
                <a:cs typeface="Times New Roman"/>
                <a:sym typeface="Times New Roman"/>
              </a:rPr>
              <a:t>Метою цього проекту є створення зручної онлайн-платформи, яка дозволяє замовникам здійснити комунікацію з фахівцями, що забезпечить доступ до експертних послуг та консультації.</a:t>
            </a:r>
            <a:endParaRPr sz="3900">
              <a:latin typeface="Times New Roman"/>
              <a:ea typeface="Times New Roman"/>
              <a:cs typeface="Times New Roman"/>
              <a:sym typeface="Times New Roman"/>
            </a:endParaRPr>
          </a:p>
          <a:p>
            <a:pPr indent="0" lvl="0" marL="285750" marR="245341" rtl="0" algn="just">
              <a:lnSpc>
                <a:spcPct val="100000"/>
              </a:lnSpc>
              <a:spcBef>
                <a:spcPts val="0"/>
              </a:spcBef>
              <a:spcAft>
                <a:spcPts val="0"/>
              </a:spcAft>
              <a:buClr>
                <a:srgbClr val="000000"/>
              </a:buClr>
              <a:buSzPts val="4299"/>
              <a:buFont typeface="Arial"/>
              <a:buNone/>
            </a:pPr>
            <a:r>
              <a:t/>
            </a:r>
            <a:endParaRPr sz="4000">
              <a:latin typeface="Times New Roman"/>
              <a:ea typeface="Times New Roman"/>
              <a:cs typeface="Times New Roman"/>
              <a:sym typeface="Times New Roman"/>
            </a:endParaRPr>
          </a:p>
        </p:txBody>
      </p:sp>
      <p:sp>
        <p:nvSpPr>
          <p:cNvPr id="89" name="Google Shape;89;p13"/>
          <p:cNvSpPr txBox="1"/>
          <p:nvPr/>
        </p:nvSpPr>
        <p:spPr>
          <a:xfrm>
            <a:off x="581550" y="18414475"/>
            <a:ext cx="41373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Завдання:</a:t>
            </a:r>
            <a:endParaRPr b="0" i="0" sz="1400" u="none" cap="none" strike="noStrike">
              <a:solidFill>
                <a:schemeClr val="lt1"/>
              </a:solidFill>
              <a:latin typeface="Roboto"/>
              <a:ea typeface="Roboto"/>
              <a:cs typeface="Roboto"/>
              <a:sym typeface="Roboto"/>
            </a:endParaRPr>
          </a:p>
        </p:txBody>
      </p:sp>
      <p:sp>
        <p:nvSpPr>
          <p:cNvPr id="90" name="Google Shape;90;p13"/>
          <p:cNvSpPr txBox="1"/>
          <p:nvPr/>
        </p:nvSpPr>
        <p:spPr>
          <a:xfrm>
            <a:off x="532550" y="19357575"/>
            <a:ext cx="16784400" cy="3417000"/>
          </a:xfrm>
          <a:prstGeom prst="rect">
            <a:avLst/>
          </a:prstGeom>
          <a:solidFill>
            <a:srgbClr val="F9CB9C"/>
          </a:solidFill>
          <a:ln>
            <a:noFill/>
          </a:ln>
        </p:spPr>
        <p:txBody>
          <a:bodyPr anchorCtr="0" anchor="t" bIns="0" lIns="0" spcFirstLastPara="1" rIns="0" wrap="square" tIns="0">
            <a:spAutoFit/>
          </a:bodyPr>
          <a:lstStyle/>
          <a:p>
            <a:pPr indent="0" lvl="0" marL="285750" marR="245341" rtl="0" algn="just">
              <a:lnSpc>
                <a:spcPct val="100000"/>
              </a:lnSpc>
              <a:spcBef>
                <a:spcPts val="0"/>
              </a:spcBef>
              <a:spcAft>
                <a:spcPts val="0"/>
              </a:spcAft>
              <a:buClr>
                <a:srgbClr val="000000"/>
              </a:buClr>
              <a:buSzPts val="4299"/>
              <a:buFont typeface="Arial"/>
              <a:buNone/>
            </a:pPr>
            <a:r>
              <a:rPr lang="en-US" sz="3700">
                <a:solidFill>
                  <a:schemeClr val="dk1"/>
                </a:solidFill>
                <a:latin typeface="Times New Roman"/>
                <a:ea typeface="Times New Roman"/>
                <a:cs typeface="Times New Roman"/>
                <a:sym typeface="Times New Roman"/>
              </a:rPr>
              <a:t>Створити функціонал для реєстрації та редагування користувачів з різними ролями у PostgreSQL; реалізувати систему створення та редагування заявок замовниками; забезпечити віддалену комунікацію між замовником та фахівцем; створити адмін-панель для управління категоріями, послугами, користувачами, запитами на додавання послуг майстрами та заявками від користувачів; реалізувати систему сповіщень про нові заявки, послуги та інші події.</a:t>
            </a:r>
            <a:endParaRPr sz="3700">
              <a:solidFill>
                <a:schemeClr val="dk1"/>
              </a:solidFill>
              <a:latin typeface="Times New Roman"/>
              <a:ea typeface="Times New Roman"/>
              <a:cs typeface="Times New Roman"/>
              <a:sym typeface="Times New Roman"/>
            </a:endParaRPr>
          </a:p>
        </p:txBody>
      </p:sp>
      <p:sp>
        <p:nvSpPr>
          <p:cNvPr id="91" name="Google Shape;91;p13"/>
          <p:cNvSpPr txBox="1"/>
          <p:nvPr/>
        </p:nvSpPr>
        <p:spPr>
          <a:xfrm>
            <a:off x="612943" y="23116526"/>
            <a:ext cx="100053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Об’єкт дослідження:</a:t>
            </a:r>
            <a:endParaRPr b="0" i="0" sz="1400" u="none" cap="none" strike="noStrike">
              <a:solidFill>
                <a:schemeClr val="lt1"/>
              </a:solidFill>
              <a:latin typeface="Roboto"/>
              <a:ea typeface="Roboto"/>
              <a:cs typeface="Roboto"/>
              <a:sym typeface="Roboto"/>
            </a:endParaRPr>
          </a:p>
        </p:txBody>
      </p:sp>
      <p:sp>
        <p:nvSpPr>
          <p:cNvPr id="92" name="Google Shape;92;p13"/>
          <p:cNvSpPr txBox="1"/>
          <p:nvPr/>
        </p:nvSpPr>
        <p:spPr>
          <a:xfrm>
            <a:off x="532550" y="23934350"/>
            <a:ext cx="16623300" cy="1224600"/>
          </a:xfrm>
          <a:prstGeom prst="rect">
            <a:avLst/>
          </a:prstGeom>
          <a:solidFill>
            <a:srgbClr val="F9CB9C"/>
          </a:solid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Clr>
                <a:schemeClr val="dk1"/>
              </a:buClr>
              <a:buSzPts val="1100"/>
              <a:buFont typeface="Arial"/>
              <a:buNone/>
            </a:pPr>
            <a:r>
              <a:rPr lang="en-US" sz="3700">
                <a:latin typeface="Times New Roman"/>
                <a:ea typeface="Times New Roman"/>
                <a:cs typeface="Times New Roman"/>
                <a:sym typeface="Times New Roman"/>
              </a:rPr>
              <a:t>Процес створення системи для комунікації між замовниками та фахівцями включає розробку серверної частини та клієнтського інтерфейсу.</a:t>
            </a:r>
            <a:endParaRPr sz="3700">
              <a:latin typeface="Times New Roman"/>
              <a:ea typeface="Times New Roman"/>
              <a:cs typeface="Times New Roman"/>
              <a:sym typeface="Times New Roman"/>
            </a:endParaRPr>
          </a:p>
        </p:txBody>
      </p:sp>
      <p:sp>
        <p:nvSpPr>
          <p:cNvPr id="93" name="Google Shape;93;p13"/>
          <p:cNvSpPr txBox="1"/>
          <p:nvPr/>
        </p:nvSpPr>
        <p:spPr>
          <a:xfrm>
            <a:off x="642275" y="25263188"/>
            <a:ext cx="70809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Предмет дослідження:</a:t>
            </a:r>
            <a:endParaRPr b="0" i="0" sz="1400" u="none" cap="none" strike="noStrike">
              <a:solidFill>
                <a:schemeClr val="lt1"/>
              </a:solidFill>
              <a:latin typeface="Roboto"/>
              <a:ea typeface="Roboto"/>
              <a:cs typeface="Roboto"/>
              <a:sym typeface="Roboto"/>
            </a:endParaRPr>
          </a:p>
        </p:txBody>
      </p:sp>
      <p:sp>
        <p:nvSpPr>
          <p:cNvPr id="94" name="Google Shape;94;p13"/>
          <p:cNvSpPr txBox="1"/>
          <p:nvPr/>
        </p:nvSpPr>
        <p:spPr>
          <a:xfrm>
            <a:off x="532550" y="26149475"/>
            <a:ext cx="16542600" cy="585000"/>
          </a:xfrm>
          <a:prstGeom prst="rect">
            <a:avLst/>
          </a:prstGeom>
          <a:solidFill>
            <a:srgbClr val="F9CB9C"/>
          </a:solidFill>
          <a:ln>
            <a:noFill/>
          </a:ln>
        </p:spPr>
        <p:txBody>
          <a:bodyPr anchorCtr="0" anchor="t" bIns="0" lIns="0" spcFirstLastPara="1" rIns="0" wrap="square" tIns="0">
            <a:spAutoFit/>
          </a:bodyPr>
          <a:lstStyle/>
          <a:p>
            <a:pPr indent="0" lvl="0" marL="285750" marR="245341" rtl="0" algn="just">
              <a:spcBef>
                <a:spcPts val="0"/>
              </a:spcBef>
              <a:spcAft>
                <a:spcPts val="0"/>
              </a:spcAft>
              <a:buClr>
                <a:schemeClr val="dk1"/>
              </a:buClr>
              <a:buSzPts val="4299"/>
              <a:buFont typeface="Arial"/>
              <a:buNone/>
            </a:pPr>
            <a:r>
              <a:rPr lang="en-US" sz="3800">
                <a:solidFill>
                  <a:schemeClr val="dk1"/>
                </a:solidFill>
                <a:latin typeface="Times New Roman"/>
                <a:ea typeface="Times New Roman"/>
                <a:cs typeface="Times New Roman"/>
                <a:sym typeface="Times New Roman"/>
              </a:rPr>
              <a:t>Розробка сучасної веб-платформи, спрямованої на забезпечення комунікації.</a:t>
            </a:r>
            <a:endParaRPr sz="3700">
              <a:solidFill>
                <a:schemeClr val="dk1"/>
              </a:solidFill>
              <a:latin typeface="Times New Roman"/>
              <a:ea typeface="Times New Roman"/>
              <a:cs typeface="Times New Roman"/>
              <a:sym typeface="Times New Roman"/>
            </a:endParaRPr>
          </a:p>
        </p:txBody>
      </p:sp>
      <p:sp>
        <p:nvSpPr>
          <p:cNvPr id="95" name="Google Shape;95;p13"/>
          <p:cNvSpPr txBox="1"/>
          <p:nvPr/>
        </p:nvSpPr>
        <p:spPr>
          <a:xfrm>
            <a:off x="532550" y="32340825"/>
            <a:ext cx="16784400" cy="3986700"/>
          </a:xfrm>
          <a:prstGeom prst="rect">
            <a:avLst/>
          </a:prstGeom>
          <a:solidFill>
            <a:srgbClr val="F9CB9C"/>
          </a:solidFill>
          <a:ln>
            <a:noFill/>
          </a:ln>
        </p:spPr>
        <p:txBody>
          <a:bodyPr anchorCtr="0" anchor="t" bIns="0" lIns="0" spcFirstLastPara="1" rIns="0" wrap="square" tIns="0">
            <a:spAutoFit/>
          </a:bodyPr>
          <a:lstStyle/>
          <a:p>
            <a:pPr indent="0" lvl="0" marL="457200" marR="245341" rtl="0" algn="just">
              <a:lnSpc>
                <a:spcPct val="100000"/>
              </a:lnSpc>
              <a:spcBef>
                <a:spcPts val="0"/>
              </a:spcBef>
              <a:spcAft>
                <a:spcPts val="0"/>
              </a:spcAft>
              <a:buNone/>
            </a:pPr>
            <a:r>
              <a:rPr lang="en-US" sz="3700">
                <a:latin typeface="Times New Roman"/>
                <a:ea typeface="Times New Roman"/>
                <a:cs typeface="Times New Roman"/>
                <a:sym typeface="Times New Roman"/>
              </a:rPr>
              <a:t>Для створення конкурентоспроможного рішення були застосовані аналітичні методи (аналіз існуючих аналогів, визначення їхніх переваг та недоліків), технічні методи (вибір оптимальних технологій, моделювання архітектури системи, проектування бази даних), практичні методи (синтез рішень шляхом поєднання кращих практик та методів), а також тестування та оптимізація (перевірка працездатності платформи, виявлення та усунення помилок для підвищення її ефективності та стабільності).</a:t>
            </a:r>
            <a:endParaRPr sz="3700">
              <a:latin typeface="Times New Roman"/>
              <a:ea typeface="Times New Roman"/>
              <a:cs typeface="Times New Roman"/>
              <a:sym typeface="Times New Roman"/>
            </a:endParaRPr>
          </a:p>
        </p:txBody>
      </p:sp>
      <p:sp>
        <p:nvSpPr>
          <p:cNvPr id="96" name="Google Shape;96;p13"/>
          <p:cNvSpPr txBox="1"/>
          <p:nvPr/>
        </p:nvSpPr>
        <p:spPr>
          <a:xfrm>
            <a:off x="532550" y="28081725"/>
            <a:ext cx="16784400" cy="2847600"/>
          </a:xfrm>
          <a:prstGeom prst="rect">
            <a:avLst/>
          </a:prstGeom>
          <a:solidFill>
            <a:srgbClr val="F9CB9C"/>
          </a:solidFill>
          <a:ln>
            <a:noFill/>
          </a:ln>
        </p:spPr>
        <p:txBody>
          <a:bodyPr anchorCtr="0" anchor="t" bIns="0" lIns="0" spcFirstLastPara="1" rIns="0" wrap="square" tIns="0">
            <a:spAutoFit/>
          </a:bodyPr>
          <a:lstStyle/>
          <a:p>
            <a:pPr indent="0" lvl="0" marL="285750" marR="245341" rtl="0" algn="just">
              <a:lnSpc>
                <a:spcPct val="100000"/>
              </a:lnSpc>
              <a:spcBef>
                <a:spcPts val="0"/>
              </a:spcBef>
              <a:spcAft>
                <a:spcPts val="0"/>
              </a:spcAft>
              <a:buClr>
                <a:srgbClr val="000000"/>
              </a:buClr>
              <a:buSzPts val="4299"/>
              <a:buFont typeface="Arial"/>
              <a:buNone/>
            </a:pPr>
            <a:r>
              <a:rPr lang="en-US" sz="3700">
                <a:latin typeface="Times New Roman"/>
                <a:ea typeface="Times New Roman"/>
                <a:cs typeface="Times New Roman"/>
                <a:sym typeface="Times New Roman"/>
              </a:rPr>
              <a:t>Для фахівця реалізовано функціонал додавання в категорії нових видів послуг, які  після затвердження адміністратором стають доступними для всіх користувачів платформи. Додано різні рівні спілкування між замовниками та фахівцями, а саме повідомлення, онлайн чат, голосові повідомлення та відеоконференція.</a:t>
            </a:r>
            <a:endParaRPr sz="3700">
              <a:latin typeface="Times New Roman"/>
              <a:ea typeface="Times New Roman"/>
              <a:cs typeface="Times New Roman"/>
              <a:sym typeface="Times New Roman"/>
            </a:endParaRPr>
          </a:p>
        </p:txBody>
      </p:sp>
      <p:sp>
        <p:nvSpPr>
          <p:cNvPr id="97" name="Google Shape;97;p13"/>
          <p:cNvSpPr txBox="1"/>
          <p:nvPr/>
        </p:nvSpPr>
        <p:spPr>
          <a:xfrm>
            <a:off x="613363" y="27077750"/>
            <a:ext cx="30144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Новизна:</a:t>
            </a:r>
            <a:endParaRPr b="0" i="0" sz="1400" u="none" cap="none" strike="noStrike">
              <a:solidFill>
                <a:schemeClr val="lt1"/>
              </a:solidFill>
              <a:latin typeface="Roboto"/>
              <a:ea typeface="Roboto"/>
              <a:cs typeface="Roboto"/>
              <a:sym typeface="Roboto"/>
            </a:endParaRPr>
          </a:p>
        </p:txBody>
      </p:sp>
      <p:sp>
        <p:nvSpPr>
          <p:cNvPr id="98" name="Google Shape;98;p13"/>
          <p:cNvSpPr txBox="1"/>
          <p:nvPr/>
        </p:nvSpPr>
        <p:spPr>
          <a:xfrm>
            <a:off x="542100" y="37752900"/>
            <a:ext cx="16784400" cy="3189300"/>
          </a:xfrm>
          <a:prstGeom prst="rect">
            <a:avLst/>
          </a:prstGeom>
          <a:solidFill>
            <a:srgbClr val="F9CB9C"/>
          </a:solidFill>
          <a:ln>
            <a:noFill/>
          </a:ln>
        </p:spPr>
        <p:txBody>
          <a:bodyPr anchorCtr="0" anchor="t" bIns="0" lIns="0" spcFirstLastPara="1" rIns="0" wrap="square" tIns="0">
            <a:spAutoFit/>
          </a:bodyPr>
          <a:lstStyle/>
          <a:p>
            <a:pPr indent="0" lvl="0" marL="171450" marR="264967" rtl="0" algn="just">
              <a:lnSpc>
                <a:spcPct val="115000"/>
              </a:lnSpc>
              <a:spcBef>
                <a:spcPts val="0"/>
              </a:spcBef>
              <a:spcAft>
                <a:spcPts val="0"/>
              </a:spcAft>
              <a:buNone/>
            </a:pPr>
            <a:r>
              <a:rPr lang="en-US" sz="3700">
                <a:solidFill>
                  <a:schemeClr val="dk1"/>
                </a:solidFill>
                <a:latin typeface="Times New Roman"/>
                <a:ea typeface="Times New Roman"/>
                <a:cs typeface="Times New Roman"/>
                <a:sym typeface="Times New Roman"/>
              </a:rPr>
              <a:t>Виконуючи поставлені завдання було реалізовано функціонал для реєстрації та редагування фахівців та користувачів; спроектовано взаємодію з базою даних; адміністративну панель для відображення всіх зареєстрованих користувачів та фахівців на платформі; систему відправлення заявок які надсилаються у адмін панель та у базу даних;</a:t>
            </a:r>
            <a:endParaRPr sz="3700">
              <a:latin typeface="Times New Roman"/>
              <a:ea typeface="Times New Roman"/>
              <a:cs typeface="Times New Roman"/>
              <a:sym typeface="Times New Roman"/>
            </a:endParaRPr>
          </a:p>
        </p:txBody>
      </p:sp>
      <p:sp>
        <p:nvSpPr>
          <p:cNvPr id="99" name="Google Shape;99;p13"/>
          <p:cNvSpPr txBox="1"/>
          <p:nvPr/>
        </p:nvSpPr>
        <p:spPr>
          <a:xfrm>
            <a:off x="632588" y="36611775"/>
            <a:ext cx="91581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Висновки</a:t>
            </a:r>
            <a:r>
              <a:rPr b="1" lang="en-US" sz="5000">
                <a:solidFill>
                  <a:schemeClr val="lt1"/>
                </a:solidFill>
                <a:latin typeface="Roboto"/>
                <a:ea typeface="Roboto"/>
                <a:cs typeface="Roboto"/>
                <a:sym typeface="Roboto"/>
              </a:rPr>
              <a:t> та результати</a:t>
            </a:r>
            <a:endParaRPr b="0" i="0" sz="1400" u="none" cap="none" strike="noStrike">
              <a:solidFill>
                <a:schemeClr val="lt1"/>
              </a:solidFill>
              <a:latin typeface="Roboto"/>
              <a:ea typeface="Roboto"/>
              <a:cs typeface="Roboto"/>
              <a:sym typeface="Roboto"/>
            </a:endParaRPr>
          </a:p>
        </p:txBody>
      </p:sp>
      <p:sp>
        <p:nvSpPr>
          <p:cNvPr id="100" name="Google Shape;100;p13"/>
          <p:cNvSpPr txBox="1"/>
          <p:nvPr/>
        </p:nvSpPr>
        <p:spPr>
          <a:xfrm>
            <a:off x="693489" y="9988688"/>
            <a:ext cx="50190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Roboto"/>
                <a:ea typeface="Roboto"/>
                <a:cs typeface="Roboto"/>
                <a:sym typeface="Roboto"/>
              </a:rPr>
              <a:t>Актуальність:</a:t>
            </a:r>
            <a:endParaRPr b="0" i="0" sz="1400" u="none" cap="none" strike="noStrike">
              <a:solidFill>
                <a:schemeClr val="lt1"/>
              </a:solidFill>
              <a:latin typeface="Roboto"/>
              <a:ea typeface="Roboto"/>
              <a:cs typeface="Roboto"/>
              <a:sym typeface="Roboto"/>
            </a:endParaRPr>
          </a:p>
        </p:txBody>
      </p:sp>
      <p:sp>
        <p:nvSpPr>
          <p:cNvPr id="101" name="Google Shape;101;p13"/>
          <p:cNvSpPr txBox="1"/>
          <p:nvPr/>
        </p:nvSpPr>
        <p:spPr>
          <a:xfrm>
            <a:off x="581550" y="10938425"/>
            <a:ext cx="16903500" cy="3879000"/>
          </a:xfrm>
          <a:prstGeom prst="rect">
            <a:avLst/>
          </a:prstGeom>
          <a:solidFill>
            <a:srgbClr val="F9CB9C"/>
          </a:solidFill>
          <a:ln>
            <a:noFill/>
          </a:ln>
        </p:spPr>
        <p:txBody>
          <a:bodyPr anchorCtr="0" anchor="t" bIns="0" lIns="0" spcFirstLastPara="1" rIns="0" wrap="square" tIns="0">
            <a:spAutoFit/>
          </a:bodyPr>
          <a:lstStyle/>
          <a:p>
            <a:pPr indent="0" lvl="0" marL="285750" marR="245341" rtl="0" algn="just">
              <a:lnSpc>
                <a:spcPct val="100000"/>
              </a:lnSpc>
              <a:spcBef>
                <a:spcPts val="0"/>
              </a:spcBef>
              <a:spcAft>
                <a:spcPts val="0"/>
              </a:spcAft>
              <a:buClr>
                <a:srgbClr val="000000"/>
              </a:buClr>
              <a:buSzPts val="4299"/>
              <a:buFont typeface="Arial"/>
              <a:buNone/>
            </a:pPr>
            <a:r>
              <a:rPr lang="en-US" sz="3600">
                <a:solidFill>
                  <a:schemeClr val="dk1"/>
                </a:solidFill>
                <a:latin typeface="Times New Roman"/>
                <a:ea typeface="Times New Roman"/>
                <a:cs typeface="Times New Roman"/>
                <a:sym typeface="Times New Roman"/>
              </a:rPr>
              <a:t>Актуальністю створення цієї онлайн-платформи зумовлена стрімким розвитком різних галузей та зростанням попиту на спеціалізовані послуги. У сучасному світі важливо мати можливість швидко та зручно отримати доступ до кваліфікованих фахівців — особливо в критичних ситуаціях, пов’язаних із медициною, освітою та іншими професійними сферами. Наша платформа усуває бар’єри у комунікації між замовниками та спеціалістами, забезпечуючи оперативність, ефективність та професіоналізм у вирішенні будь-яких питань.</a:t>
            </a:r>
            <a:endParaRPr b="1" sz="5900">
              <a:latin typeface="Times New Roman"/>
              <a:ea typeface="Times New Roman"/>
              <a:cs typeface="Times New Roman"/>
              <a:sym typeface="Times New Roman"/>
            </a:endParaRPr>
          </a:p>
        </p:txBody>
      </p:sp>
      <p:sp>
        <p:nvSpPr>
          <p:cNvPr id="102" name="Google Shape;102;p13"/>
          <p:cNvSpPr txBox="1"/>
          <p:nvPr/>
        </p:nvSpPr>
        <p:spPr>
          <a:xfrm>
            <a:off x="18048488" y="21693788"/>
            <a:ext cx="11443500" cy="738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i="1" lang="en-US" sz="3600">
                <a:solidFill>
                  <a:schemeClr val="lt1"/>
                </a:solidFill>
                <a:latin typeface="Roboto"/>
                <a:ea typeface="Roboto"/>
                <a:cs typeface="Roboto"/>
                <a:sym typeface="Roboto"/>
              </a:rPr>
              <a:t>Рис.1  Діаграма реєстрації фахівців та користувачів</a:t>
            </a:r>
            <a:endParaRPr i="1" sz="3600">
              <a:solidFill>
                <a:schemeClr val="lt1"/>
              </a:solidFill>
              <a:latin typeface="Roboto"/>
              <a:ea typeface="Roboto"/>
              <a:cs typeface="Roboto"/>
              <a:sym typeface="Roboto"/>
            </a:endParaRPr>
          </a:p>
        </p:txBody>
      </p:sp>
      <p:pic>
        <p:nvPicPr>
          <p:cNvPr id="103" name="Google Shape;103;p13"/>
          <p:cNvPicPr preferRelativeResize="0"/>
          <p:nvPr/>
        </p:nvPicPr>
        <p:blipFill>
          <a:blip r:embed="rId3">
            <a:alphaModFix/>
          </a:blip>
          <a:stretch>
            <a:fillRect/>
          </a:stretch>
        </p:blipFill>
        <p:spPr>
          <a:xfrm>
            <a:off x="18048500" y="11657226"/>
            <a:ext cx="11443500" cy="9161732"/>
          </a:xfrm>
          <a:prstGeom prst="rect">
            <a:avLst/>
          </a:prstGeom>
          <a:noFill/>
          <a:ln>
            <a:noFill/>
          </a:ln>
        </p:spPr>
      </p:pic>
      <p:pic>
        <p:nvPicPr>
          <p:cNvPr id="104" name="Google Shape;104;p13"/>
          <p:cNvPicPr preferRelativeResize="0"/>
          <p:nvPr/>
        </p:nvPicPr>
        <p:blipFill>
          <a:blip r:embed="rId4">
            <a:alphaModFix/>
          </a:blip>
          <a:stretch>
            <a:fillRect/>
          </a:stretch>
        </p:blipFill>
        <p:spPr>
          <a:xfrm>
            <a:off x="18048500" y="22956900"/>
            <a:ext cx="11248501" cy="6619725"/>
          </a:xfrm>
          <a:prstGeom prst="rect">
            <a:avLst/>
          </a:prstGeom>
          <a:noFill/>
          <a:ln>
            <a:noFill/>
          </a:ln>
        </p:spPr>
      </p:pic>
      <p:sp>
        <p:nvSpPr>
          <p:cNvPr id="105" name="Google Shape;105;p13"/>
          <p:cNvSpPr txBox="1"/>
          <p:nvPr/>
        </p:nvSpPr>
        <p:spPr>
          <a:xfrm>
            <a:off x="18048500" y="29938800"/>
            <a:ext cx="11051700" cy="738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i="1" lang="en-US" sz="3600">
                <a:solidFill>
                  <a:schemeClr val="lt1"/>
                </a:solidFill>
                <a:latin typeface="Roboto"/>
                <a:ea typeface="Roboto"/>
                <a:cs typeface="Roboto"/>
                <a:sym typeface="Roboto"/>
              </a:rPr>
              <a:t>Рис.2  Діаграма відправлення заявки про допомогу</a:t>
            </a:r>
            <a:endParaRPr i="1" sz="3600">
              <a:solidFill>
                <a:schemeClr val="lt1"/>
              </a:solidFill>
              <a:latin typeface="Roboto"/>
              <a:ea typeface="Roboto"/>
              <a:cs typeface="Roboto"/>
              <a:sym typeface="Roboto"/>
            </a:endParaRPr>
          </a:p>
        </p:txBody>
      </p:sp>
      <p:grpSp>
        <p:nvGrpSpPr>
          <p:cNvPr id="106" name="Google Shape;106;p13"/>
          <p:cNvGrpSpPr/>
          <p:nvPr/>
        </p:nvGrpSpPr>
        <p:grpSpPr>
          <a:xfrm>
            <a:off x="18244400" y="31039881"/>
            <a:ext cx="11051700" cy="5247069"/>
            <a:chOff x="17872700" y="35559006"/>
            <a:chExt cx="11051700" cy="5247069"/>
          </a:xfrm>
        </p:grpSpPr>
        <p:pic>
          <p:nvPicPr>
            <p:cNvPr id="107" name="Google Shape;107;p13"/>
            <p:cNvPicPr preferRelativeResize="0"/>
            <p:nvPr/>
          </p:nvPicPr>
          <p:blipFill>
            <a:blip r:embed="rId5">
              <a:alphaModFix/>
            </a:blip>
            <a:stretch>
              <a:fillRect/>
            </a:stretch>
          </p:blipFill>
          <p:spPr>
            <a:xfrm>
              <a:off x="18865901" y="36080648"/>
              <a:ext cx="1420393" cy="1482067"/>
            </a:xfrm>
            <a:prstGeom prst="rect">
              <a:avLst/>
            </a:prstGeom>
            <a:noFill/>
            <a:ln>
              <a:noFill/>
            </a:ln>
          </p:spPr>
        </p:pic>
        <p:pic>
          <p:nvPicPr>
            <p:cNvPr id="108" name="Google Shape;108;p13"/>
            <p:cNvPicPr preferRelativeResize="0"/>
            <p:nvPr/>
          </p:nvPicPr>
          <p:blipFill>
            <a:blip r:embed="rId6">
              <a:alphaModFix/>
            </a:blip>
            <a:stretch>
              <a:fillRect/>
            </a:stretch>
          </p:blipFill>
          <p:spPr>
            <a:xfrm>
              <a:off x="22416253" y="36151173"/>
              <a:ext cx="1482067" cy="1482067"/>
            </a:xfrm>
            <a:prstGeom prst="rect">
              <a:avLst/>
            </a:prstGeom>
            <a:noFill/>
            <a:ln>
              <a:noFill/>
            </a:ln>
          </p:spPr>
        </p:pic>
        <p:pic>
          <p:nvPicPr>
            <p:cNvPr id="109" name="Google Shape;109;p13"/>
            <p:cNvPicPr preferRelativeResize="0"/>
            <p:nvPr/>
          </p:nvPicPr>
          <p:blipFill>
            <a:blip r:embed="rId7">
              <a:alphaModFix/>
            </a:blip>
            <a:stretch>
              <a:fillRect/>
            </a:stretch>
          </p:blipFill>
          <p:spPr>
            <a:xfrm>
              <a:off x="25897707" y="37796274"/>
              <a:ext cx="1420393" cy="1482067"/>
            </a:xfrm>
            <a:prstGeom prst="rect">
              <a:avLst/>
            </a:prstGeom>
            <a:noFill/>
            <a:ln>
              <a:noFill/>
            </a:ln>
          </p:spPr>
        </p:pic>
        <p:cxnSp>
          <p:nvCxnSpPr>
            <p:cNvPr id="110" name="Google Shape;110;p13"/>
            <p:cNvCxnSpPr/>
            <p:nvPr/>
          </p:nvCxnSpPr>
          <p:spPr>
            <a:xfrm>
              <a:off x="20316263" y="36526249"/>
              <a:ext cx="2115300" cy="0"/>
            </a:xfrm>
            <a:prstGeom prst="straightConnector1">
              <a:avLst/>
            </a:prstGeom>
            <a:noFill/>
            <a:ln cap="flat" cmpd="sng" w="28575">
              <a:solidFill>
                <a:srgbClr val="FFFFFF"/>
              </a:solidFill>
              <a:prstDash val="solid"/>
              <a:round/>
              <a:headEnd len="med" w="med" type="none"/>
              <a:tailEnd len="med" w="med" type="triangle"/>
            </a:ln>
          </p:spPr>
        </p:cxnSp>
        <p:cxnSp>
          <p:nvCxnSpPr>
            <p:cNvPr id="111" name="Google Shape;111;p13"/>
            <p:cNvCxnSpPr>
              <a:stCxn id="108" idx="3"/>
              <a:endCxn id="109" idx="1"/>
            </p:cNvCxnSpPr>
            <p:nvPr/>
          </p:nvCxnSpPr>
          <p:spPr>
            <a:xfrm>
              <a:off x="23898319" y="36892206"/>
              <a:ext cx="1999500" cy="1645200"/>
            </a:xfrm>
            <a:prstGeom prst="straightConnector1">
              <a:avLst/>
            </a:prstGeom>
            <a:noFill/>
            <a:ln cap="flat" cmpd="sng" w="28575">
              <a:solidFill>
                <a:srgbClr val="FFFFFF"/>
              </a:solidFill>
              <a:prstDash val="solid"/>
              <a:round/>
              <a:headEnd len="med" w="med" type="none"/>
              <a:tailEnd len="med" w="med" type="triangle"/>
            </a:ln>
          </p:spPr>
        </p:cxnSp>
        <p:cxnSp>
          <p:nvCxnSpPr>
            <p:cNvPr id="112" name="Google Shape;112;p13"/>
            <p:cNvCxnSpPr/>
            <p:nvPr/>
          </p:nvCxnSpPr>
          <p:spPr>
            <a:xfrm rot="10800000">
              <a:off x="23874175" y="37330325"/>
              <a:ext cx="1963200" cy="1536000"/>
            </a:xfrm>
            <a:prstGeom prst="straightConnector1">
              <a:avLst/>
            </a:prstGeom>
            <a:noFill/>
            <a:ln cap="flat" cmpd="sng" w="28575">
              <a:solidFill>
                <a:srgbClr val="FFFFFF"/>
              </a:solidFill>
              <a:prstDash val="solid"/>
              <a:round/>
              <a:headEnd len="med" w="med" type="none"/>
              <a:tailEnd len="med" w="med" type="triangle"/>
            </a:ln>
          </p:spPr>
        </p:cxnSp>
        <p:cxnSp>
          <p:nvCxnSpPr>
            <p:cNvPr id="113" name="Google Shape;113;p13"/>
            <p:cNvCxnSpPr>
              <a:stCxn id="108" idx="1"/>
              <a:endCxn id="107" idx="3"/>
            </p:cNvCxnSpPr>
            <p:nvPr/>
          </p:nvCxnSpPr>
          <p:spPr>
            <a:xfrm rot="10800000">
              <a:off x="20286253" y="36821706"/>
              <a:ext cx="2130000" cy="70500"/>
            </a:xfrm>
            <a:prstGeom prst="straightConnector1">
              <a:avLst/>
            </a:prstGeom>
            <a:noFill/>
            <a:ln cap="flat" cmpd="sng" w="28575">
              <a:solidFill>
                <a:srgbClr val="FFFFFF"/>
              </a:solidFill>
              <a:prstDash val="solid"/>
              <a:round/>
              <a:headEnd len="med" w="med" type="none"/>
              <a:tailEnd len="med" w="med" type="triangle"/>
            </a:ln>
          </p:spPr>
        </p:cxnSp>
        <p:sp>
          <p:nvSpPr>
            <p:cNvPr id="114" name="Google Shape;114;p13"/>
            <p:cNvSpPr txBox="1"/>
            <p:nvPr/>
          </p:nvSpPr>
          <p:spPr>
            <a:xfrm>
              <a:off x="26036861" y="39274974"/>
              <a:ext cx="1142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200">
                  <a:solidFill>
                    <a:srgbClr val="FFFFFF"/>
                  </a:solidFill>
                  <a:latin typeface="Montserrat"/>
                  <a:ea typeface="Montserrat"/>
                  <a:cs typeface="Montserrat"/>
                  <a:sym typeface="Montserrat"/>
                </a:rPr>
                <a:t>База даних</a:t>
              </a:r>
              <a:endParaRPr b="1" sz="1200">
                <a:solidFill>
                  <a:srgbClr val="FFFFFF"/>
                </a:solidFill>
                <a:latin typeface="Montserrat"/>
                <a:ea typeface="Montserrat"/>
                <a:cs typeface="Montserrat"/>
                <a:sym typeface="Montserrat"/>
              </a:endParaRPr>
            </a:p>
          </p:txBody>
        </p:sp>
        <p:sp>
          <p:nvSpPr>
            <p:cNvPr id="115" name="Google Shape;115;p13"/>
            <p:cNvSpPr txBox="1"/>
            <p:nvPr/>
          </p:nvSpPr>
          <p:spPr>
            <a:xfrm>
              <a:off x="22585920" y="37680931"/>
              <a:ext cx="114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solidFill>
                    <a:srgbClr val="FFFFFF"/>
                  </a:solidFill>
                  <a:latin typeface="Montserrat"/>
                  <a:ea typeface="Montserrat"/>
                  <a:cs typeface="Montserrat"/>
                  <a:sym typeface="Montserrat"/>
                </a:rPr>
                <a:t>Сервер</a:t>
              </a:r>
              <a:endParaRPr b="1">
                <a:solidFill>
                  <a:srgbClr val="FFFFFF"/>
                </a:solidFill>
                <a:latin typeface="Montserrat"/>
                <a:ea typeface="Montserrat"/>
                <a:cs typeface="Montserrat"/>
                <a:sym typeface="Montserrat"/>
              </a:endParaRPr>
            </a:p>
          </p:txBody>
        </p:sp>
        <p:sp>
          <p:nvSpPr>
            <p:cNvPr id="116" name="Google Shape;116;p13"/>
            <p:cNvSpPr txBox="1"/>
            <p:nvPr/>
          </p:nvSpPr>
          <p:spPr>
            <a:xfrm>
              <a:off x="20997425" y="36198775"/>
              <a:ext cx="707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FFFFFF"/>
                  </a:solidFill>
                  <a:latin typeface="Montserrat Medium"/>
                  <a:ea typeface="Montserrat Medium"/>
                  <a:cs typeface="Montserrat Medium"/>
                  <a:sym typeface="Montserrat Medium"/>
                </a:rPr>
                <a:t>Запит</a:t>
              </a:r>
              <a:endParaRPr sz="1200">
                <a:solidFill>
                  <a:schemeClr val="dk2"/>
                </a:solidFill>
                <a:latin typeface="Montserrat Medium"/>
                <a:ea typeface="Montserrat Medium"/>
                <a:cs typeface="Montserrat Medium"/>
                <a:sym typeface="Montserrat Medium"/>
              </a:endParaRPr>
            </a:p>
          </p:txBody>
        </p:sp>
        <p:sp>
          <p:nvSpPr>
            <p:cNvPr id="117" name="Google Shape;117;p13"/>
            <p:cNvSpPr txBox="1"/>
            <p:nvPr/>
          </p:nvSpPr>
          <p:spPr>
            <a:xfrm>
              <a:off x="20865575" y="36632275"/>
              <a:ext cx="97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FFFFFF"/>
                  </a:solidFill>
                  <a:latin typeface="Montserrat Medium"/>
                  <a:ea typeface="Montserrat Medium"/>
                  <a:cs typeface="Montserrat Medium"/>
                  <a:sym typeface="Montserrat Medium"/>
                </a:rPr>
                <a:t>Відповідь</a:t>
              </a:r>
              <a:endParaRPr sz="1200">
                <a:solidFill>
                  <a:srgbClr val="FFFFFF"/>
                </a:solidFill>
                <a:latin typeface="Montserrat Medium"/>
                <a:ea typeface="Montserrat Medium"/>
                <a:cs typeface="Montserrat Medium"/>
                <a:sym typeface="Montserrat Medium"/>
              </a:endParaRPr>
            </a:p>
          </p:txBody>
        </p:sp>
        <p:sp>
          <p:nvSpPr>
            <p:cNvPr id="118" name="Google Shape;118;p13"/>
            <p:cNvSpPr txBox="1"/>
            <p:nvPr/>
          </p:nvSpPr>
          <p:spPr>
            <a:xfrm rot="2265091">
              <a:off x="23813970" y="37352249"/>
              <a:ext cx="2136913" cy="3693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solidFill>
                    <a:srgbClr val="FFFFFF"/>
                  </a:solidFill>
                  <a:latin typeface="Montserrat Medium"/>
                  <a:ea typeface="Montserrat Medium"/>
                  <a:cs typeface="Montserrat Medium"/>
                  <a:sym typeface="Montserrat Medium"/>
                </a:rPr>
                <a:t>запит на отримання </a:t>
              </a:r>
              <a:endParaRPr sz="1200">
                <a:solidFill>
                  <a:srgbClr val="FFFFFF"/>
                </a:solidFill>
                <a:latin typeface="Montserrat Medium"/>
                <a:ea typeface="Montserrat Medium"/>
                <a:cs typeface="Montserrat Medium"/>
                <a:sym typeface="Montserrat Medium"/>
              </a:endParaRPr>
            </a:p>
          </p:txBody>
        </p:sp>
        <p:cxnSp>
          <p:nvCxnSpPr>
            <p:cNvPr id="119" name="Google Shape;119;p13"/>
            <p:cNvCxnSpPr>
              <a:stCxn id="107" idx="3"/>
              <a:endCxn id="108" idx="1"/>
            </p:cNvCxnSpPr>
            <p:nvPr/>
          </p:nvCxnSpPr>
          <p:spPr>
            <a:xfrm>
              <a:off x="20286294" y="36821681"/>
              <a:ext cx="2130000" cy="70500"/>
            </a:xfrm>
            <a:prstGeom prst="straightConnector1">
              <a:avLst/>
            </a:prstGeom>
            <a:noFill/>
            <a:ln cap="flat" cmpd="sng" w="9525">
              <a:solidFill>
                <a:schemeClr val="dk2"/>
              </a:solidFill>
              <a:prstDash val="solid"/>
              <a:round/>
              <a:headEnd len="med" w="med" type="none"/>
              <a:tailEnd len="med" w="med" type="none"/>
            </a:ln>
          </p:spPr>
        </p:cxnSp>
        <p:cxnSp>
          <p:nvCxnSpPr>
            <p:cNvPr id="120" name="Google Shape;120;p13"/>
            <p:cNvCxnSpPr>
              <a:stCxn id="108" idx="3"/>
              <a:endCxn id="109" idx="1"/>
            </p:cNvCxnSpPr>
            <p:nvPr/>
          </p:nvCxnSpPr>
          <p:spPr>
            <a:xfrm>
              <a:off x="23898319" y="36892206"/>
              <a:ext cx="1999500" cy="1645200"/>
            </a:xfrm>
            <a:prstGeom prst="straightConnector1">
              <a:avLst/>
            </a:prstGeom>
            <a:noFill/>
            <a:ln cap="flat" cmpd="sng" w="9525">
              <a:solidFill>
                <a:schemeClr val="dk2"/>
              </a:solidFill>
              <a:prstDash val="solid"/>
              <a:round/>
              <a:headEnd len="med" w="med" type="none"/>
              <a:tailEnd len="med" w="med" type="none"/>
            </a:ln>
          </p:spPr>
        </p:cxnSp>
        <p:sp>
          <p:nvSpPr>
            <p:cNvPr id="121" name="Google Shape;121;p13"/>
            <p:cNvSpPr txBox="1"/>
            <p:nvPr/>
          </p:nvSpPr>
          <p:spPr>
            <a:xfrm>
              <a:off x="17872700" y="40067175"/>
              <a:ext cx="11051700" cy="738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i="1" lang="en-US" sz="3600">
                  <a:solidFill>
                    <a:schemeClr val="lt1"/>
                  </a:solidFill>
                  <a:latin typeface="Roboto"/>
                  <a:ea typeface="Roboto"/>
                  <a:cs typeface="Roboto"/>
                  <a:sym typeface="Roboto"/>
                </a:rPr>
                <a:t>Рис.3  Архітектура проєкту</a:t>
              </a:r>
              <a:endParaRPr i="1" sz="3600">
                <a:solidFill>
                  <a:schemeClr val="lt1"/>
                </a:solidFill>
                <a:latin typeface="Roboto"/>
                <a:ea typeface="Roboto"/>
                <a:cs typeface="Roboto"/>
                <a:sym typeface="Roboto"/>
              </a:endParaRPr>
            </a:p>
          </p:txBody>
        </p:sp>
        <p:cxnSp>
          <p:nvCxnSpPr>
            <p:cNvPr id="122" name="Google Shape;122;p13"/>
            <p:cNvCxnSpPr>
              <a:stCxn id="108" idx="3"/>
              <a:endCxn id="123" idx="2"/>
            </p:cNvCxnSpPr>
            <p:nvPr/>
          </p:nvCxnSpPr>
          <p:spPr>
            <a:xfrm flipH="1" rot="10800000">
              <a:off x="23898319" y="35559006"/>
              <a:ext cx="1725600" cy="1333200"/>
            </a:xfrm>
            <a:prstGeom prst="straightConnector1">
              <a:avLst/>
            </a:prstGeom>
            <a:noFill/>
            <a:ln cap="flat" cmpd="sng" w="9525">
              <a:solidFill>
                <a:schemeClr val="dk2"/>
              </a:solidFill>
              <a:prstDash val="solid"/>
              <a:round/>
              <a:headEnd len="med" w="med" type="none"/>
              <a:tailEnd len="med" w="med" type="none"/>
            </a:ln>
          </p:spPr>
        </p:cxnSp>
        <p:sp>
          <p:nvSpPr>
            <p:cNvPr id="124" name="Google Shape;124;p13"/>
            <p:cNvSpPr txBox="1"/>
            <p:nvPr/>
          </p:nvSpPr>
          <p:spPr>
            <a:xfrm>
              <a:off x="18740891" y="38689391"/>
              <a:ext cx="66402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Roboto"/>
                  <a:ea typeface="Roboto"/>
                  <a:cs typeface="Roboto"/>
                  <a:sym typeface="Roboto"/>
                </a:rPr>
                <a:t>Методи дослідження:</a:t>
              </a:r>
              <a:endParaRPr b="0" i="0" sz="1400" u="none" cap="none" strike="noStrike">
                <a:solidFill>
                  <a:srgbClr val="000000"/>
                </a:solidFill>
                <a:latin typeface="Roboto"/>
                <a:ea typeface="Roboto"/>
                <a:cs typeface="Roboto"/>
                <a:sym typeface="Roboto"/>
              </a:endParaRPr>
            </a:p>
          </p:txBody>
        </p:sp>
      </p:grpSp>
      <p:sp>
        <p:nvSpPr>
          <p:cNvPr id="125" name="Google Shape;125;p13"/>
          <p:cNvSpPr txBox="1"/>
          <p:nvPr/>
        </p:nvSpPr>
        <p:spPr>
          <a:xfrm>
            <a:off x="712600" y="138250"/>
            <a:ext cx="29259000" cy="754200"/>
          </a:xfrm>
          <a:prstGeom prst="rect">
            <a:avLst/>
          </a:prstGeom>
          <a:gradFill>
            <a:gsLst>
              <a:gs pos="0">
                <a:srgbClr val="FDECDB"/>
              </a:gs>
              <a:gs pos="100000">
                <a:srgbClr val="F0AA63"/>
              </a:gs>
            </a:gsLst>
            <a:lin ang="5400012" scaled="0"/>
          </a:gradFill>
          <a:ln>
            <a:noFill/>
          </a:ln>
        </p:spPr>
        <p:txBody>
          <a:bodyPr anchorCtr="0" anchor="t" bIns="0" lIns="0" spcFirstLastPara="1" rIns="0" wrap="square" tIns="0">
            <a:spAutoFit/>
          </a:bodyPr>
          <a:lstStyle/>
          <a:p>
            <a:pPr indent="450000" lvl="0" marL="0" marR="4574" rtl="0" algn="ctr">
              <a:lnSpc>
                <a:spcPct val="115000"/>
              </a:lnSpc>
              <a:spcBef>
                <a:spcPts val="0"/>
              </a:spcBef>
              <a:spcAft>
                <a:spcPts val="0"/>
              </a:spcAft>
              <a:buClr>
                <a:schemeClr val="dk1"/>
              </a:buClr>
              <a:buSzPts val="1100"/>
              <a:buFont typeface="Arial"/>
              <a:buNone/>
            </a:pPr>
            <a:r>
              <a:rPr lang="en-US" sz="4900">
                <a:solidFill>
                  <a:schemeClr val="dk1"/>
                </a:solidFill>
                <a:latin typeface="Roboto"/>
                <a:ea typeface="Roboto"/>
                <a:cs typeface="Roboto"/>
                <a:sym typeface="Roboto"/>
              </a:rPr>
              <a:t>Наукове товариство учнів «Інтелект» Житомирської ТГ</a:t>
            </a:r>
            <a:endParaRPr sz="13400">
              <a:latin typeface="Roboto"/>
              <a:ea typeface="Roboto"/>
              <a:cs typeface="Roboto"/>
              <a:sym typeface="Roboto"/>
            </a:endParaRPr>
          </a:p>
        </p:txBody>
      </p:sp>
      <p:sp>
        <p:nvSpPr>
          <p:cNvPr id="126" name="Google Shape;126;p13"/>
          <p:cNvSpPr txBox="1"/>
          <p:nvPr/>
        </p:nvSpPr>
        <p:spPr>
          <a:xfrm>
            <a:off x="522998" y="41237788"/>
            <a:ext cx="10005300" cy="800400"/>
          </a:xfrm>
          <a:prstGeom prst="rect">
            <a:avLst/>
          </a:prstGeom>
          <a:gradFill>
            <a:gsLst>
              <a:gs pos="0">
                <a:srgbClr val="FDECDB"/>
              </a:gs>
              <a:gs pos="100000">
                <a:srgbClr val="F0AA63"/>
              </a:gs>
            </a:gsLst>
            <a:lin ang="5400012" scaled="0"/>
          </a:gradFill>
          <a:ln>
            <a:noFill/>
          </a:ln>
        </p:spPr>
        <p:txBody>
          <a:bodyPr anchorCtr="0" anchor="t" bIns="0" lIns="0" spcFirstLastPara="1" rIns="0" wrap="square" tIns="0">
            <a:spAutoFit/>
          </a:bodyPr>
          <a:lstStyle/>
          <a:p>
            <a:pPr indent="0" lvl="0" marL="285750" marR="245341" rtl="0" algn="just">
              <a:lnSpc>
                <a:spcPct val="100000"/>
              </a:lnSpc>
              <a:spcBef>
                <a:spcPts val="0"/>
              </a:spcBef>
              <a:spcAft>
                <a:spcPts val="0"/>
              </a:spcAft>
              <a:buClr>
                <a:srgbClr val="000000"/>
              </a:buClr>
              <a:buSzPts val="4299"/>
              <a:buFont typeface="Arial"/>
              <a:buNone/>
            </a:pPr>
            <a:r>
              <a:rPr lang="en-US" sz="5200">
                <a:latin typeface="Times New Roman"/>
                <a:ea typeface="Times New Roman"/>
                <a:cs typeface="Times New Roman"/>
                <a:sym typeface="Times New Roman"/>
              </a:rPr>
              <a:t>https://avtolikar.onrender.com</a:t>
            </a:r>
            <a:endParaRPr sz="5200">
              <a:latin typeface="Times New Roman"/>
              <a:ea typeface="Times New Roman"/>
              <a:cs typeface="Times New Roman"/>
              <a:sym typeface="Times New Roman"/>
            </a:endParaRPr>
          </a:p>
        </p:txBody>
      </p:sp>
      <p:sp>
        <p:nvSpPr>
          <p:cNvPr id="127" name="Google Shape;127;p13"/>
          <p:cNvSpPr txBox="1"/>
          <p:nvPr/>
        </p:nvSpPr>
        <p:spPr>
          <a:xfrm>
            <a:off x="623050" y="30989763"/>
            <a:ext cx="129267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5000">
                <a:solidFill>
                  <a:schemeClr val="lt1"/>
                </a:solidFill>
                <a:latin typeface="Calibri"/>
                <a:ea typeface="Calibri"/>
                <a:cs typeface="Calibri"/>
                <a:sym typeface="Calibri"/>
              </a:rPr>
              <a:t>Медоти дослідження</a:t>
            </a:r>
            <a:endParaRPr b="1" sz="5000">
              <a:solidFill>
                <a:schemeClr val="lt1"/>
              </a:solidFill>
              <a:latin typeface="Calibri"/>
              <a:ea typeface="Calibri"/>
              <a:cs typeface="Calibri"/>
              <a:sym typeface="Calibri"/>
            </a:endParaRPr>
          </a:p>
        </p:txBody>
      </p:sp>
      <p:pic>
        <p:nvPicPr>
          <p:cNvPr id="128" name="Google Shape;128;p13"/>
          <p:cNvPicPr preferRelativeResize="0"/>
          <p:nvPr/>
        </p:nvPicPr>
        <p:blipFill rotWithShape="1">
          <a:blip r:embed="rId8">
            <a:alphaModFix/>
          </a:blip>
          <a:srcRect b="13232" l="0" r="0" t="0"/>
          <a:stretch/>
        </p:blipFill>
        <p:spPr>
          <a:xfrm>
            <a:off x="722825" y="1912675"/>
            <a:ext cx="6478075" cy="7514575"/>
          </a:xfrm>
          <a:prstGeom prst="rect">
            <a:avLst/>
          </a:prstGeom>
          <a:noFill/>
          <a:ln>
            <a:noFill/>
          </a:ln>
        </p:spPr>
      </p:pic>
      <p:pic>
        <p:nvPicPr>
          <p:cNvPr id="129" name="Google Shape;129;p13" title="qrcode_202125437_5c83a62c8cff87b1a1f6364e9f9555e0.png"/>
          <p:cNvPicPr preferRelativeResize="0"/>
          <p:nvPr/>
        </p:nvPicPr>
        <p:blipFill>
          <a:blip r:embed="rId9">
            <a:alphaModFix/>
          </a:blip>
          <a:stretch>
            <a:fillRect/>
          </a:stretch>
        </p:blipFill>
        <p:spPr>
          <a:xfrm>
            <a:off x="25278850" y="37381275"/>
            <a:ext cx="4519575" cy="4519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646868"/>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